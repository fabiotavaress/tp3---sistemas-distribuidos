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2011680"/>
            <a:ext cx="5120640" cy="5120640"/>
          </a:xfrm>
          <a:prstGeom prst="ellipse">
            <a:avLst/>
          </a:prstGeom>
          <a:solidFill>
            <a:srgbClr val="212B45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91840"/>
            <a:ext cx="3291840" cy="3291840"/>
          </a:xfrm>
          <a:prstGeom prst="ellipse">
            <a:avLst/>
          </a:prstGeom>
          <a:solidFill>
            <a:srgbClr val="242E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66928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" y="1572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TP03   —   SISTEMAS DISTRIBUÍDOS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Replicação e Tolerância a Falhas</a:t>
            </a:r>
            <a:endParaRPr lang="en-US" sz="4300" dirty="0"/>
          </a:p>
        </p:txBody>
      </p:sp>
      <p:sp>
        <p:nvSpPr>
          <p:cNvPr id="7" name="Text 4"/>
          <p:cNvSpPr/>
          <p:nvPr/>
        </p:nvSpPr>
        <p:spPr>
          <a:xfrm>
            <a:off x="594360" y="29077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Store </a:t>
            </a:r>
            <a:pPr indent="0" marL="0">
              <a:buNone/>
            </a:pPr>
            <a:r>
              <a:rPr lang="en-US" sz="1600" b="1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primário-backup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 recurso R replicado em 3 nós, sobre o Cluster Sync do TP2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3504" y="3611880"/>
            <a:ext cx="795528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Continuação do TP2: a seção crítica agora escreve de verdade em um cluster replicado, tolerante a quedas e omissões — rodando em Kubernetes e na nuvem AWS.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03504" y="45537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Fábio Tavares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 DO TRABALHO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TP2 ao TP3: o recurso R agora é real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703320" cy="3200400"/>
          </a:xfrm>
          <a:prstGeom prst="roundRect">
            <a:avLst>
              <a:gd name="adj" fmla="val 314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25400" dir="5400000">
              <a:srgbClr val="9BB0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6733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1821028"/>
            <a:ext cx="326441" cy="32644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328" y="17099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TP2 — Exclusão Mútua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Cluster Sync coordena quem acessa R, sem nó mestre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Multicast ordenado (RabbitMQ R_topic) + fila F privada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seção crítica, um sleep de 0,2–1s SIMULAVA o acesso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coordenar o acesso de forma justa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852928"/>
            <a:ext cx="512064" cy="32918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892040" y="1417320"/>
            <a:ext cx="3703320" cy="3200400"/>
          </a:xfrm>
          <a:prstGeom prst="roundRect">
            <a:avLst>
              <a:gd name="adj" fmla="val 3143"/>
            </a:avLst>
          </a:prstGeom>
          <a:solidFill>
            <a:srgbClr val="1E2761"/>
          </a:solidFill>
          <a:ln/>
        </p:spPr>
      </p:sp>
      <p:sp>
        <p:nvSpPr>
          <p:cNvPr id="11" name="Shape 7"/>
          <p:cNvSpPr/>
          <p:nvPr/>
        </p:nvSpPr>
        <p:spPr>
          <a:xfrm>
            <a:off x="5084064" y="1673352"/>
            <a:ext cx="621792" cy="621792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740" y="1821028"/>
            <a:ext cx="326441" cy="32644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24728" y="170992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TP3 — Replicação + Falhas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166360" y="251460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seção crítica ESCREVE DE VERDADE no recurso R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Cluster Store: 3 réplicas em primário-backup</a:t>
            </a:r>
            <a:endParaRPr lang="en-US" sz="12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 falha por queda e por omissão de nós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replicar o dado e sobreviver a falhas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PROPOSTO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Replicar o recurso R e sobreviver a falhas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49808"/>
          </a:xfrm>
          <a:prstGeom prst="roundRect">
            <a:avLst>
              <a:gd name="adj" fmla="val 13415"/>
            </a:avLst>
          </a:prstGeom>
          <a:solidFill>
            <a:srgbClr val="FFF1E8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490472"/>
            <a:ext cx="512064" cy="512064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11" y="1612087"/>
            <a:ext cx="268834" cy="268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371600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middleware na parte nova: </a:t>
            </a:r>
            <a:pPr indent="0" marL="0">
              <a:buNone/>
            </a:pPr>
            <a:r>
              <a:rPr lang="en-US" sz="1300" dirty="0">
                <a:solidFill>
                  <a:srgbClr val="9A5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comunicação do Cluster Store (escrita, replicação, PING, snapshot) é HTTP puro, feito à mão.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2560320" cy="2423160"/>
          </a:xfrm>
          <a:prstGeom prst="roundRect">
            <a:avLst>
              <a:gd name="adj" fmla="val 4151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1499616" y="2633472"/>
            <a:ext cx="658368" cy="658368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978" y="2789834"/>
            <a:ext cx="345643" cy="3456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34198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réplicas do Store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68096" y="3813048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recurso R vive em 3 nós. Qualquer réplica aceita a escrita — se não for a primária, repassa ao primário.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291840" y="2395728"/>
            <a:ext cx="2560320" cy="2423160"/>
          </a:xfrm>
          <a:prstGeom prst="roundRect">
            <a:avLst>
              <a:gd name="adj" fmla="val 4151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4242816" y="2633472"/>
            <a:ext cx="658368" cy="658368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9178" y="2789834"/>
            <a:ext cx="345643" cy="3456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29000" y="34198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Escolha aleatória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3511296" y="3813048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requisição sorteia o recurso (R1–R5) e cada acesso sorteia a réplica do Store — ponto extra da proposta.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035040" y="2395728"/>
            <a:ext cx="2560320" cy="2423160"/>
          </a:xfrm>
          <a:prstGeom prst="roundRect">
            <a:avLst>
              <a:gd name="adj" fmla="val 4151"/>
            </a:avLst>
          </a:prstGeom>
          <a:solidFill>
            <a:srgbClr val="1E2761"/>
          </a:solidFill>
          <a:ln/>
        </p:spPr>
      </p:sp>
      <p:sp>
        <p:nvSpPr>
          <p:cNvPr id="19" name="Shape 14"/>
          <p:cNvSpPr/>
          <p:nvPr/>
        </p:nvSpPr>
        <p:spPr>
          <a:xfrm>
            <a:off x="6986016" y="2633472"/>
            <a:ext cx="658368" cy="658368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2378" y="2789834"/>
            <a:ext cx="345643" cy="34564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72200" y="341985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Queda e omissão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6254496" y="3813048"/>
            <a:ext cx="2121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PINGs periódicos + timeout detectam nós mortos. O sistema continua servindo e se recupera sozinho.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SOLUÇÃO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Arquitetura: dois clusters e o broker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042416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STORE — 3 réplicas · primário-backup · HTTP puro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286000" y="1591056"/>
            <a:ext cx="2286000" cy="0"/>
          </a:xfrm>
          <a:prstGeom prst="line">
            <a:avLst/>
          </a:prstGeom>
          <a:noFill/>
          <a:ln w="12700">
            <a:solidFill>
              <a:srgbClr val="A9BBE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286000" y="1591056"/>
            <a:ext cx="4572000" cy="0"/>
          </a:xfrm>
          <a:prstGeom prst="line">
            <a:avLst/>
          </a:prstGeom>
          <a:noFill/>
          <a:ln w="12700">
            <a:solidFill>
              <a:srgbClr val="A9BBE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572000" y="1591056"/>
            <a:ext cx="2286000" cy="0"/>
          </a:xfrm>
          <a:prstGeom prst="line">
            <a:avLst/>
          </a:prstGeom>
          <a:noFill/>
          <a:ln w="12700">
            <a:solidFill>
              <a:srgbClr val="A9BBE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286000" y="1865376"/>
            <a:ext cx="0" cy="384048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0" y="1865376"/>
            <a:ext cx="0" cy="384048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858000" y="1865376"/>
            <a:ext cx="0" cy="384048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2011680" y="131673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1982" y="1447038"/>
            <a:ext cx="288036" cy="2880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71600" y="1901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297680" y="1316736"/>
            <a:ext cx="548640" cy="548640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982" y="1447038"/>
            <a:ext cx="288036" cy="288036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872" y="1335024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57600" y="1901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2  (primário)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583680" y="131673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982" y="1447038"/>
            <a:ext cx="288036" cy="2880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43600" y="1901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3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914400" y="2075688"/>
            <a:ext cx="7315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barramento HTTP — escrita na réplica sorteada (timeout + retentativa)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914400" y="2249424"/>
            <a:ext cx="7315200" cy="0"/>
          </a:xfrm>
          <a:prstGeom prst="line">
            <a:avLst/>
          </a:prstGeom>
          <a:noFill/>
          <a:ln w="22225">
            <a:solidFill>
              <a:srgbClr val="7DA0D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51560" y="2249424"/>
            <a:ext cx="0" cy="402336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24" name="Shape 18"/>
          <p:cNvSpPr/>
          <p:nvPr/>
        </p:nvSpPr>
        <p:spPr>
          <a:xfrm>
            <a:off x="2811780" y="2249424"/>
            <a:ext cx="0" cy="402336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25" name="Shape 19"/>
          <p:cNvSpPr/>
          <p:nvPr/>
        </p:nvSpPr>
        <p:spPr>
          <a:xfrm>
            <a:off x="4572000" y="2249424"/>
            <a:ext cx="0" cy="402336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26" name="Shape 20"/>
          <p:cNvSpPr/>
          <p:nvPr/>
        </p:nvSpPr>
        <p:spPr>
          <a:xfrm>
            <a:off x="6332220" y="2249424"/>
            <a:ext cx="0" cy="402336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27" name="Shape 21"/>
          <p:cNvSpPr/>
          <p:nvPr/>
        </p:nvSpPr>
        <p:spPr>
          <a:xfrm>
            <a:off x="8092440" y="2249424"/>
            <a:ext cx="0" cy="402336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28" name="Text 22"/>
          <p:cNvSpPr/>
          <p:nvPr/>
        </p:nvSpPr>
        <p:spPr>
          <a:xfrm>
            <a:off x="548640" y="2359152"/>
            <a:ext cx="8046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SYNC — exclusão mútua (herança do TP2)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795528" y="26517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143" y="2773375"/>
            <a:ext cx="268834" cy="26883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2920" y="31912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1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2555748" y="26517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77363" y="2773375"/>
            <a:ext cx="268834" cy="26883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263140" y="31912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2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4315968" y="26517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7583" y="2773375"/>
            <a:ext cx="268834" cy="26883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023360" y="31912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3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6076188" y="26517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7803" y="2773375"/>
            <a:ext cx="268834" cy="268834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5783580" y="31912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4</a:t>
            </a:r>
            <a:endParaRPr lang="en-US" sz="950" dirty="0"/>
          </a:p>
        </p:txBody>
      </p:sp>
      <p:sp>
        <p:nvSpPr>
          <p:cNvPr id="41" name="Shape 31"/>
          <p:cNvSpPr/>
          <p:nvPr/>
        </p:nvSpPr>
        <p:spPr>
          <a:xfrm>
            <a:off x="7836408" y="265176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8023" y="2773375"/>
            <a:ext cx="268834" cy="268834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543800" y="31912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5</a:t>
            </a:r>
            <a:endParaRPr lang="en-US" sz="950" dirty="0"/>
          </a:p>
        </p:txBody>
      </p:sp>
      <p:sp>
        <p:nvSpPr>
          <p:cNvPr id="44" name="Shape 33"/>
          <p:cNvSpPr/>
          <p:nvPr/>
        </p:nvSpPr>
        <p:spPr>
          <a:xfrm>
            <a:off x="1554480" y="3456432"/>
            <a:ext cx="6035040" cy="365760"/>
          </a:xfrm>
          <a:prstGeom prst="roundRect">
            <a:avLst>
              <a:gd name="adj" fmla="val 27500"/>
            </a:avLst>
          </a:prstGeom>
          <a:solidFill>
            <a:srgbClr val="1E2761"/>
          </a:solidFill>
          <a:ln/>
        </p:spPr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0" y="3538728"/>
            <a:ext cx="201168" cy="20116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2103120" y="345643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 —  Exchange fanout "R_topic"  (ACQUIRE / RELEASE)</a:t>
            </a:r>
            <a:endParaRPr lang="en-US" sz="1200" dirty="0"/>
          </a:p>
        </p:txBody>
      </p:sp>
      <p:sp>
        <p:nvSpPr>
          <p:cNvPr id="47" name="Shape 35"/>
          <p:cNvSpPr/>
          <p:nvPr/>
        </p:nvSpPr>
        <p:spPr>
          <a:xfrm>
            <a:off x="1051560" y="3163824"/>
            <a:ext cx="0" cy="292608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48" name="Shape 36"/>
          <p:cNvSpPr/>
          <p:nvPr/>
        </p:nvSpPr>
        <p:spPr>
          <a:xfrm>
            <a:off x="2811780" y="3163824"/>
            <a:ext cx="0" cy="292608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49" name="Shape 37"/>
          <p:cNvSpPr/>
          <p:nvPr/>
        </p:nvSpPr>
        <p:spPr>
          <a:xfrm>
            <a:off x="4572000" y="3163824"/>
            <a:ext cx="0" cy="292608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50" name="Shape 38"/>
          <p:cNvSpPr/>
          <p:nvPr/>
        </p:nvSpPr>
        <p:spPr>
          <a:xfrm>
            <a:off x="6332220" y="3163824"/>
            <a:ext cx="0" cy="292608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51" name="Shape 39"/>
          <p:cNvSpPr/>
          <p:nvPr/>
        </p:nvSpPr>
        <p:spPr>
          <a:xfrm>
            <a:off x="8092440" y="3163824"/>
            <a:ext cx="0" cy="292608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52" name="Shape 40"/>
          <p:cNvSpPr/>
          <p:nvPr/>
        </p:nvSpPr>
        <p:spPr>
          <a:xfrm>
            <a:off x="1051560" y="3822192"/>
            <a:ext cx="0" cy="265176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53" name="Shape 41"/>
          <p:cNvSpPr/>
          <p:nvPr/>
        </p:nvSpPr>
        <p:spPr>
          <a:xfrm>
            <a:off x="2811780" y="3822192"/>
            <a:ext cx="0" cy="265176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54" name="Shape 42"/>
          <p:cNvSpPr/>
          <p:nvPr/>
        </p:nvSpPr>
        <p:spPr>
          <a:xfrm>
            <a:off x="4572000" y="3822192"/>
            <a:ext cx="0" cy="265176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55" name="Shape 43"/>
          <p:cNvSpPr/>
          <p:nvPr/>
        </p:nvSpPr>
        <p:spPr>
          <a:xfrm>
            <a:off x="6332220" y="3822192"/>
            <a:ext cx="0" cy="265176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56" name="Shape 44"/>
          <p:cNvSpPr/>
          <p:nvPr/>
        </p:nvSpPr>
        <p:spPr>
          <a:xfrm>
            <a:off x="8092440" y="3822192"/>
            <a:ext cx="0" cy="265176"/>
          </a:xfrm>
          <a:prstGeom prst="line">
            <a:avLst/>
          </a:prstGeom>
          <a:noFill/>
          <a:ln w="12700">
            <a:solidFill>
              <a:srgbClr val="C9D4EC"/>
            </a:solidFill>
            <a:prstDash val="dash"/>
          </a:ln>
        </p:spPr>
      </p:sp>
      <p:sp>
        <p:nvSpPr>
          <p:cNvPr id="57" name="Shape 45"/>
          <p:cNvSpPr/>
          <p:nvPr/>
        </p:nvSpPr>
        <p:spPr>
          <a:xfrm>
            <a:off x="822960" y="4087368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5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1545" y="4195953"/>
            <a:ext cx="240030" cy="240030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411480" y="45720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</a:t>
            </a:r>
            <a:endParaRPr lang="en-US" sz="950" dirty="0"/>
          </a:p>
        </p:txBody>
      </p:sp>
      <p:sp>
        <p:nvSpPr>
          <p:cNvPr id="60" name="Shape 47"/>
          <p:cNvSpPr/>
          <p:nvPr/>
        </p:nvSpPr>
        <p:spPr>
          <a:xfrm>
            <a:off x="2583180" y="4087368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6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1765" y="4195953"/>
            <a:ext cx="240030" cy="240030"/>
          </a:xfrm>
          <a:prstGeom prst="rect">
            <a:avLst/>
          </a:prstGeom>
        </p:spPr>
      </p:pic>
      <p:sp>
        <p:nvSpPr>
          <p:cNvPr id="62" name="Text 48"/>
          <p:cNvSpPr/>
          <p:nvPr/>
        </p:nvSpPr>
        <p:spPr>
          <a:xfrm>
            <a:off x="2171700" y="45720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2</a:t>
            </a:r>
            <a:endParaRPr lang="en-US" sz="950" dirty="0"/>
          </a:p>
        </p:txBody>
      </p:sp>
      <p:sp>
        <p:nvSpPr>
          <p:cNvPr id="63" name="Shape 49"/>
          <p:cNvSpPr/>
          <p:nvPr/>
        </p:nvSpPr>
        <p:spPr>
          <a:xfrm>
            <a:off x="4343400" y="4087368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6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1985" y="4195953"/>
            <a:ext cx="240030" cy="240030"/>
          </a:xfrm>
          <a:prstGeom prst="rect">
            <a:avLst/>
          </a:prstGeom>
        </p:spPr>
      </p:pic>
      <p:sp>
        <p:nvSpPr>
          <p:cNvPr id="65" name="Text 50"/>
          <p:cNvSpPr/>
          <p:nvPr/>
        </p:nvSpPr>
        <p:spPr>
          <a:xfrm>
            <a:off x="3931920" y="45720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3</a:t>
            </a:r>
            <a:endParaRPr lang="en-US" sz="950" dirty="0"/>
          </a:p>
        </p:txBody>
      </p:sp>
      <p:sp>
        <p:nvSpPr>
          <p:cNvPr id="66" name="Shape 51"/>
          <p:cNvSpPr/>
          <p:nvPr/>
        </p:nvSpPr>
        <p:spPr>
          <a:xfrm>
            <a:off x="6103620" y="4087368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6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12205" y="4195953"/>
            <a:ext cx="240030" cy="240030"/>
          </a:xfrm>
          <a:prstGeom prst="rect">
            <a:avLst/>
          </a:prstGeom>
        </p:spPr>
      </p:pic>
      <p:sp>
        <p:nvSpPr>
          <p:cNvPr id="68" name="Text 52"/>
          <p:cNvSpPr/>
          <p:nvPr/>
        </p:nvSpPr>
        <p:spPr>
          <a:xfrm>
            <a:off x="5692140" y="45720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4</a:t>
            </a:r>
            <a:endParaRPr lang="en-US" sz="950" dirty="0"/>
          </a:p>
        </p:txBody>
      </p:sp>
      <p:sp>
        <p:nvSpPr>
          <p:cNvPr id="69" name="Shape 53"/>
          <p:cNvSpPr/>
          <p:nvPr/>
        </p:nvSpPr>
        <p:spPr>
          <a:xfrm>
            <a:off x="7863840" y="4087368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7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72425" y="4195953"/>
            <a:ext cx="240030" cy="240030"/>
          </a:xfrm>
          <a:prstGeom prst="rect">
            <a:avLst/>
          </a:prstGeom>
        </p:spPr>
      </p:pic>
      <p:sp>
        <p:nvSpPr>
          <p:cNvPr id="71" name="Text 54"/>
          <p:cNvSpPr/>
          <p:nvPr/>
        </p:nvSpPr>
        <p:spPr>
          <a:xfrm>
            <a:off x="7452360" y="457200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PRIMÁRIO-BACKUP · FIGURA 7.19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uma escrita é replicada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87752" cy="1371600"/>
          </a:xfrm>
          <a:prstGeom prst="roundRect">
            <a:avLst>
              <a:gd name="adj" fmla="val 7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25400" dir="5400000">
              <a:srgbClr val="9BB0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572768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98448" y="1591056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 escreve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084832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seção crítica, sorteia uma réplica do Store e envia a escrita via HTTP.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282696" y="1371600"/>
            <a:ext cx="2587752" cy="1371600"/>
          </a:xfrm>
          <a:prstGeom prst="roundRect">
            <a:avLst>
              <a:gd name="adj" fmla="val 7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25400" dir="5400000">
              <a:srgbClr val="9BB0D6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83864" y="1572768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sp>
        <p:nvSpPr>
          <p:cNvPr id="11" name="Text 9"/>
          <p:cNvSpPr/>
          <p:nvPr/>
        </p:nvSpPr>
        <p:spPr>
          <a:xfrm>
            <a:off x="3483864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32504" y="1591056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Repassa ao primário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38728" y="2084832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réplica sorteada não é a primária, ela encaminha o pedido ao primário.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016752" y="1371600"/>
            <a:ext cx="2587752" cy="1371600"/>
          </a:xfrm>
          <a:prstGeom prst="roundRect">
            <a:avLst>
              <a:gd name="adj" fmla="val 7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25400" dir="5400000">
              <a:srgbClr val="9BB0D6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72768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572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66560" y="1591056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Primário replica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72784" y="2084832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primário aplica localmente e envia a atualização a todos os backups vivos.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48640" y="2907792"/>
            <a:ext cx="2587752" cy="1371600"/>
          </a:xfrm>
          <a:prstGeom prst="roundRect">
            <a:avLst>
              <a:gd name="adj" fmla="val 7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25400" dir="5400000">
              <a:srgbClr val="9BB0D6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9808" y="3108960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98448" y="3127248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Backups confirmam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3621024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backup aplica a escrita e devolve um ACK ao primário.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282696" y="2907792"/>
            <a:ext cx="2587752" cy="1371600"/>
          </a:xfrm>
          <a:prstGeom prst="roundRect">
            <a:avLst>
              <a:gd name="adj" fmla="val 7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25400" dir="5400000">
              <a:srgbClr val="9BB0D6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83864" y="3108960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sp>
        <p:nvSpPr>
          <p:cNvPr id="26" name="Text 24"/>
          <p:cNvSpPr/>
          <p:nvPr/>
        </p:nvSpPr>
        <p:spPr>
          <a:xfrm>
            <a:off x="3483864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32504" y="3127248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38728" y="3621024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os ACKs, o primário responde COMMITTED (com seq e valor novo) ao Sync.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6016752" y="2907792"/>
            <a:ext cx="2587752" cy="1371600"/>
          </a:xfrm>
          <a:prstGeom prst="roundRect">
            <a:avLst>
              <a:gd name="adj" fmla="val 7333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25400" dir="5400000">
              <a:srgbClr val="9BB0D6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108960"/>
            <a:ext cx="457200" cy="457200"/>
          </a:xfrm>
          <a:prstGeom prst="ellipse">
            <a:avLst/>
          </a:prstGeom>
          <a:solidFill>
            <a:srgbClr val="FF6F1E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766560" y="3127248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ao cliente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72784" y="3621024"/>
            <a:ext cx="2130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Sync publica RELEASE e devolve ao cliente o valor efetivamente gravado.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TOLERÂNCIA A FALHAS · OPÇÃO 2 (CLUSTER STORE)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acontece quando um nó do Store cai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0320" cy="3017520"/>
          </a:xfrm>
          <a:prstGeom prst="roundRect">
            <a:avLst>
              <a:gd name="adj" fmla="val 3929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700784"/>
            <a:ext cx="731520" cy="731520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18745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603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2.1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31520" y="279806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cai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" y="3401568"/>
            <a:ext cx="20848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outros detectam por timeout de PING. As escritas seguem sem ele; ao voltar, re-sincroniza o estado por snapshot.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1463040"/>
            <a:ext cx="2560320" cy="3017520"/>
          </a:xfrm>
          <a:prstGeom prst="roundRect">
            <a:avLst>
              <a:gd name="adj" fmla="val 3929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4206240" y="1700784"/>
            <a:ext cx="731520" cy="731520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8745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25603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2.2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3474720" y="279806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Falha com pedido em andamento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529584" y="3401568"/>
            <a:ext cx="20848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Sync toma timeout e retenta em outra réplica sorteada. A deduplicação por req_id impede escrita dupla.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35040" y="1463040"/>
            <a:ext cx="2560320" cy="3017520"/>
          </a:xfrm>
          <a:prstGeom prst="roundRect">
            <a:avLst>
              <a:gd name="adj" fmla="val 3929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6949440" y="1700784"/>
            <a:ext cx="731520" cy="731520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8745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72200" y="25603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200" kern="0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2.3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217920" y="279806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Primário cai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272784" y="3401568"/>
            <a:ext cx="208483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Eleição por época: o menor ID vivo assume. A escrita é retentada no novo primário; o antigo volta como backup.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E IMPLANTAÇÃO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Rodando em Kubernetes, na nuvem AWS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2377440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D6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53312" y="1700784"/>
            <a:ext cx="768096" cy="768096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5735" y="1883207"/>
            <a:ext cx="403250" cy="4032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786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Compose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49808" y="2944368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containers (RabbitMQ, 3 Store, 5 Sync, 5 Cliente, Dashboard) sobem com um comando.</a:t>
            </a:r>
            <a:endParaRPr lang="en-US" sz="113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500884"/>
            <a:ext cx="420624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83280" y="1481328"/>
            <a:ext cx="2377440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D6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187952" y="1700784"/>
            <a:ext cx="768096" cy="768096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375" y="1883207"/>
            <a:ext cx="403250" cy="4032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0440" y="25786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584448" y="2944368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StatefulSets dão identidade estável e DNS por pod. kubectl delete pod → o cluster se cura sozinho.</a:t>
            </a:r>
            <a:endParaRPr lang="en-US" sz="113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08" y="2500884"/>
            <a:ext cx="420624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17920" y="1481328"/>
            <a:ext cx="2377440" cy="2331720"/>
          </a:xfrm>
          <a:prstGeom prst="roundRect">
            <a:avLst>
              <a:gd name="adj" fmla="val 4314"/>
            </a:avLst>
          </a:prstGeom>
          <a:solidFill>
            <a:srgbClr val="FFFFFF"/>
          </a:solidFill>
          <a:ln w="12700">
            <a:solidFill>
              <a:srgbClr val="E3E7F3"/>
            </a:solidFill>
            <a:prstDash val="solid"/>
          </a:ln>
          <a:effectLst>
            <a:outerShdw sx="100000" sy="100000" kx="0" ky="0" algn="bl" rotWithShape="0" blurRad="101600" dist="25400" dir="5400000">
              <a:srgbClr val="9BB0D6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7022592" y="1700784"/>
            <a:ext cx="768096" cy="768096"/>
          </a:xfrm>
          <a:prstGeom prst="ellipse">
            <a:avLst/>
          </a:prstGeom>
          <a:solidFill>
            <a:srgbClr val="F4F6F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5015" y="1883207"/>
            <a:ext cx="403250" cy="4032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355080" y="257860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EC2 (k3s)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419088" y="2944368"/>
            <a:ext cx="1975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3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na nuvem por script. Dashboard público na porta 30500 — a turma acompanha pelo navegador.</a:t>
            </a:r>
            <a:endParaRPr lang="en-US" sz="1130" dirty="0"/>
          </a:p>
        </p:txBody>
      </p:sp>
      <p:sp>
        <p:nvSpPr>
          <p:cNvPr id="21" name="Shape 14"/>
          <p:cNvSpPr/>
          <p:nvPr/>
        </p:nvSpPr>
        <p:spPr>
          <a:xfrm>
            <a:off x="548640" y="4069080"/>
            <a:ext cx="8046720" cy="749808"/>
          </a:xfrm>
          <a:prstGeom prst="roundRect">
            <a:avLst>
              <a:gd name="adj" fmla="val 13415"/>
            </a:avLst>
          </a:prstGeom>
          <a:solidFill>
            <a:srgbClr val="1E2761"/>
          </a:solidFill>
          <a:ln/>
        </p:spPr>
      </p:sp>
      <p:sp>
        <p:nvSpPr>
          <p:cNvPr id="22" name="Shape 15"/>
          <p:cNvSpPr/>
          <p:nvPr/>
        </p:nvSpPr>
        <p:spPr>
          <a:xfrm>
            <a:off x="768096" y="4187952"/>
            <a:ext cx="512064" cy="512064"/>
          </a:xfrm>
          <a:prstGeom prst="ellipse">
            <a:avLst/>
          </a:prstGeom>
          <a:solidFill>
            <a:srgbClr val="FF6F1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11" y="4309567"/>
            <a:ext cx="268834" cy="26883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417320" y="4069080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ao vivo: 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topologia animada mostra cada mensagem do protocolo, a eleição do primário e a consistência das 3 réplicas em tempo real.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377440"/>
            <a:ext cx="4389120" cy="4389120"/>
          </a:xfrm>
          <a:prstGeom prst="ellipse">
            <a:avLst/>
          </a:prstGeom>
          <a:solidFill>
            <a:srgbClr val="212B4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0292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3504" y="12984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28" y="1591056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Replicação real, tolerante a falhas e na nuvem</a:t>
            </a:r>
            <a:endParaRPr lang="en-US" sz="2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24328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260604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Replicação primário-backup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234440" y="295351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recurso R vive em 3 réplicas consistentes; qualquer uma aceita a escrita e o primário propaga aos backups.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44728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42900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Tolerância a falhas comprovada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234440" y="377647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e omissão são detectadas por PING; eleição, retentativa e re-sincronização mantêm o serviço no ar.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270248"/>
            <a:ext cx="384048" cy="384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4251960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+ AWS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234440" y="4599432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o sistema roda em containers, com self-healing no Kubernetes e implantação pública na EC2 da AWS.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TP03 - Sistemas Distribuidos</dc:title>
  <dc:subject>PptxGenJS Presentation</dc:subject>
  <dc:creator>Fabio Tavares</dc:creator>
  <cp:lastModifiedBy>Fabio Tavares</cp:lastModifiedBy>
  <cp:revision>1</cp:revision>
  <dcterms:created xsi:type="dcterms:W3CDTF">2026-07-23T22:17:35Z</dcterms:created>
  <dcterms:modified xsi:type="dcterms:W3CDTF">2026-07-23T22:17:35Z</dcterms:modified>
</cp:coreProperties>
</file>